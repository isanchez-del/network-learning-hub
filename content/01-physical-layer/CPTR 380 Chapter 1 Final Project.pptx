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145bf778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145bf778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145bf778b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145bf778b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network is basically just devices connected so they can share information. That connection can be wired or wireless. When you connect many networks together, you get the Internet — the largest network in the world. Everything we do online depends on this idea.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145bf778b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145bf778b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Networks are essential to modern life. They let us communicate instantly, access information from anywhere, run businesses, stream entertainment, and connect smart devices in our homes. Without networks, most of the technology we rely on every day simply wouldn’t work.</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145bf778b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145bf778b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Originally, organizations used one big mainframe computer. But as technology grew, it became more efficient to use many smaller computers connected together. Networking allows people to share hardware, data, and software, communicate easily, and scale up as the organization grows.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145bf778b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145bf778b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two main ways devices communicate. Client–server is the most common: a client asks for something, and a server provides it — like when you load a website. Peer‑to‑peer is more direct: devices share with each other without a central server. This is used in things like file sharing or messaging apps.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145bf778b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145bf778b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the basic building blocks of any network. Clients and servers handle requests and responses. Routers move data between networks, while switches connect devices inside a local network. Links can be wired or wireless. And all data is broken into packets — small chunks that travel across the network.</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145bf778b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145bf778b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OSI model is a conceptual way to understand how data moves through a network. It has seven layers, each with a specific job. You don’t need to memorize everything — just understand that each layer handles a different part of communication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145bf778b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145bf778b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the OSI model in simple terms. Physical sends raw bits. Data Link handles local delivery. Network chooses paths using IP addresses. Transport manages end‑to‑end communication. Session keeps connections organized. Presentation formats and encrypts data. Application is where apps like web browsers and email live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145bf778b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145bf778b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TCP/IP model is the one actually used on the Internet today. It’s simpler than OSI — only four or five layers depending on how you group them. It covers application protocols, transport protocols like TCP and UDP, IP routing, and the link and physical layers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145bf778b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145bf778b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shows how the two models line up. The top three OSI layers collapse into the TCP/IP Application layer. Transport maps directly. Network maps to the Internet layer. And the bottom two OSI layers map to the Link and Physical layers. This helps you see how the models relate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145bf778b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145bf778b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examples show how networks impact everyday life. Whether you’re streaming a movie, joining a video call, gaming online, or storing files in the cloud — networks make all of it possible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145bf778b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145bf778b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Each activity depends on networks in a specific way. Video calls send audio and video packets in real time. Streaming delivers media continuously from servers. Gaming syncs player actions instantly. Cloud storage keeps your files on remote servers. And online banking uses secure protocols to protect your information.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145bf778b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145bf778b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CPTR 380</a:t>
            </a:r>
            <a:endParaRPr/>
          </a:p>
        </p:txBody>
      </p:sp>
      <p:sp>
        <p:nvSpPr>
          <p:cNvPr id="55" name="Google Shape;55;p13"/>
          <p:cNvSpPr txBox="1"/>
          <p:nvPr>
            <p:ph idx="1" type="subTitle"/>
          </p:nvPr>
        </p:nvSpPr>
        <p:spPr>
          <a:xfrm>
            <a:off x="311700" y="2834125"/>
            <a:ext cx="8520600" cy="16518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Chapter 1</a:t>
            </a:r>
            <a:endParaRPr/>
          </a:p>
          <a:p>
            <a:pPr indent="0" lvl="0" marL="0" rtl="0" algn="ctr">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Made by: Josh and Ian</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What Is a Computer Network</a:t>
            </a:r>
            <a:endParaRPr b="1"/>
          </a:p>
        </p:txBody>
      </p:sp>
      <p:sp>
        <p:nvSpPr>
          <p:cNvPr id="61" name="Google Shape;61;p14"/>
          <p:cNvSpPr txBox="1"/>
          <p:nvPr>
            <p:ph idx="1" type="body"/>
          </p:nvPr>
        </p:nvSpPr>
        <p:spPr>
          <a:xfrm>
            <a:off x="311700" y="1389600"/>
            <a:ext cx="2808000" cy="3179400"/>
          </a:xfrm>
          <a:prstGeom prst="rect">
            <a:avLst/>
          </a:prstGeom>
        </p:spPr>
        <p:txBody>
          <a:bodyPr anchorCtr="0" anchor="t" bIns="91425" lIns="91425" spcFirstLastPara="1" rIns="91425" wrap="square" tIns="91425">
            <a:normAutofit fontScale="92500" lnSpcReduction="20000"/>
          </a:bodyPr>
          <a:lstStyle/>
          <a:p>
            <a:pPr indent="-299085" lvl="0" marL="457200" rtl="0" algn="l">
              <a:spcBef>
                <a:spcPts val="0"/>
              </a:spcBef>
              <a:spcAft>
                <a:spcPts val="0"/>
              </a:spcAft>
              <a:buSzPct val="100000"/>
              <a:buChar char="●"/>
            </a:pPr>
            <a:r>
              <a:rPr lang="en"/>
              <a:t>A network is a group of connected devices that share information</a:t>
            </a:r>
            <a:endParaRPr/>
          </a:p>
          <a:p>
            <a:pPr indent="0" lvl="0" marL="0" rtl="0" algn="l">
              <a:spcBef>
                <a:spcPts val="1200"/>
              </a:spcBef>
              <a:spcAft>
                <a:spcPts val="0"/>
              </a:spcAft>
              <a:buNone/>
            </a:pPr>
            <a:r>
              <a:t/>
            </a:r>
            <a:endParaRPr/>
          </a:p>
          <a:p>
            <a:pPr indent="-299085" lvl="0" marL="457200" rtl="0" algn="l">
              <a:spcBef>
                <a:spcPts val="1200"/>
              </a:spcBef>
              <a:spcAft>
                <a:spcPts val="0"/>
              </a:spcAft>
              <a:buSzPct val="100000"/>
              <a:buChar char="●"/>
            </a:pPr>
            <a:r>
              <a:rPr lang="en"/>
              <a:t>Connections can be wired or wireless</a:t>
            </a:r>
            <a:endParaRPr/>
          </a:p>
          <a:p>
            <a:pPr indent="0" lvl="0" marL="0" rtl="0" algn="l">
              <a:spcBef>
                <a:spcPts val="1200"/>
              </a:spcBef>
              <a:spcAft>
                <a:spcPts val="0"/>
              </a:spcAft>
              <a:buNone/>
            </a:pPr>
            <a:r>
              <a:t/>
            </a:r>
            <a:endParaRPr/>
          </a:p>
          <a:p>
            <a:pPr indent="-299085" lvl="0" marL="457200" rtl="0" algn="l">
              <a:spcBef>
                <a:spcPts val="1200"/>
              </a:spcBef>
              <a:spcAft>
                <a:spcPts val="0"/>
              </a:spcAft>
              <a:buSzPct val="100000"/>
              <a:buChar char="●"/>
            </a:pPr>
            <a:r>
              <a:rPr lang="en"/>
              <a:t>Many networks together form the Internet</a:t>
            </a:r>
            <a:endParaRPr/>
          </a:p>
          <a:p>
            <a:pPr indent="0" lvl="0" marL="0" rtl="0" algn="l">
              <a:spcBef>
                <a:spcPts val="1200"/>
              </a:spcBef>
              <a:spcAft>
                <a:spcPts val="0"/>
              </a:spcAft>
              <a:buNone/>
            </a:pPr>
            <a:r>
              <a:t/>
            </a:r>
            <a:endParaRPr/>
          </a:p>
          <a:p>
            <a:pPr indent="-299085" lvl="0" marL="457200" rtl="0" algn="l">
              <a:spcBef>
                <a:spcPts val="1200"/>
              </a:spcBef>
              <a:spcAft>
                <a:spcPts val="0"/>
              </a:spcAft>
              <a:buSzPct val="100000"/>
              <a:buChar char="●"/>
            </a:pPr>
            <a:r>
              <a:rPr lang="en"/>
              <a:t>The Internet is the world’s largest “network of networks”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Why Networks Matter</a:t>
            </a:r>
            <a:endParaRPr b="1"/>
          </a:p>
        </p:txBody>
      </p:sp>
      <p:sp>
        <p:nvSpPr>
          <p:cNvPr id="67" name="Google Shape;67;p1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Networks make modern life possible:</a:t>
            </a:r>
            <a:endParaRPr/>
          </a:p>
          <a:p>
            <a:pPr indent="-298450" lvl="0" marL="457200" rtl="0" algn="l">
              <a:spcBef>
                <a:spcPts val="1200"/>
              </a:spcBef>
              <a:spcAft>
                <a:spcPts val="0"/>
              </a:spcAft>
              <a:buClr>
                <a:srgbClr val="000000"/>
              </a:buClr>
              <a:buSzPts val="1100"/>
              <a:buChar char="●"/>
            </a:pPr>
            <a:r>
              <a:rPr lang="en"/>
              <a:t>Communication</a:t>
            </a:r>
            <a:endParaRPr/>
          </a:p>
          <a:p>
            <a:pPr indent="-298450" lvl="0" marL="457200" rtl="0" algn="l">
              <a:spcBef>
                <a:spcPts val="0"/>
              </a:spcBef>
              <a:spcAft>
                <a:spcPts val="0"/>
              </a:spcAft>
              <a:buClr>
                <a:srgbClr val="000000"/>
              </a:buClr>
              <a:buSzPts val="1100"/>
              <a:buChar char="●"/>
            </a:pPr>
            <a:r>
              <a:rPr lang="en"/>
              <a:t>Access to information</a:t>
            </a:r>
            <a:endParaRPr/>
          </a:p>
          <a:p>
            <a:pPr indent="-298450" lvl="0" marL="457200" rtl="0" algn="l">
              <a:spcBef>
                <a:spcPts val="0"/>
              </a:spcBef>
              <a:spcAft>
                <a:spcPts val="0"/>
              </a:spcAft>
              <a:buClr>
                <a:srgbClr val="000000"/>
              </a:buClr>
              <a:buSzPts val="1100"/>
              <a:buChar char="●"/>
            </a:pPr>
            <a:r>
              <a:rPr lang="en"/>
              <a:t>Business operations</a:t>
            </a:r>
            <a:endParaRPr/>
          </a:p>
          <a:p>
            <a:pPr indent="-298450" lvl="0" marL="457200" rtl="0" algn="l">
              <a:spcBef>
                <a:spcPts val="0"/>
              </a:spcBef>
              <a:spcAft>
                <a:spcPts val="0"/>
              </a:spcAft>
              <a:buClr>
                <a:srgbClr val="000000"/>
              </a:buClr>
              <a:buSzPts val="1100"/>
              <a:buChar char="●"/>
            </a:pPr>
            <a:r>
              <a:rPr lang="en"/>
              <a:t>Entertainment</a:t>
            </a:r>
            <a:endParaRPr/>
          </a:p>
          <a:p>
            <a:pPr indent="-298450" lvl="0" marL="457200" rtl="0" algn="l">
              <a:spcBef>
                <a:spcPts val="0"/>
              </a:spcBef>
              <a:spcAft>
                <a:spcPts val="0"/>
              </a:spcAft>
              <a:buClr>
                <a:srgbClr val="000000"/>
              </a:buClr>
              <a:buSzPts val="1100"/>
              <a:buChar char="●"/>
            </a:pPr>
            <a:r>
              <a:rPr lang="en"/>
              <a:t>Smart devices &amp; automation</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Why We Use Networks</a:t>
            </a:r>
            <a:endParaRPr b="1"/>
          </a:p>
        </p:txBody>
      </p:sp>
      <p:sp>
        <p:nvSpPr>
          <p:cNvPr id="73" name="Google Shape;73;p1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Organizations moved from one big computer to many networked machines because networks allow:</a:t>
            </a:r>
            <a:endParaRPr/>
          </a:p>
          <a:p>
            <a:pPr indent="-298450" lvl="0" marL="457200" rtl="0" algn="l">
              <a:spcBef>
                <a:spcPts val="1200"/>
              </a:spcBef>
              <a:spcAft>
                <a:spcPts val="0"/>
              </a:spcAft>
              <a:buClr>
                <a:srgbClr val="000000"/>
              </a:buClr>
              <a:buSzPts val="1100"/>
              <a:buChar char="●"/>
            </a:pPr>
            <a:r>
              <a:rPr lang="en"/>
              <a:t>Sharing hardware</a:t>
            </a:r>
            <a:endParaRPr/>
          </a:p>
          <a:p>
            <a:pPr indent="-298450" lvl="0" marL="457200" rtl="0" algn="l">
              <a:spcBef>
                <a:spcPts val="0"/>
              </a:spcBef>
              <a:spcAft>
                <a:spcPts val="0"/>
              </a:spcAft>
              <a:buClr>
                <a:srgbClr val="000000"/>
              </a:buClr>
              <a:buSzPts val="1100"/>
              <a:buChar char="●"/>
            </a:pPr>
            <a:r>
              <a:rPr lang="en"/>
              <a:t>Sharing data &amp; software</a:t>
            </a:r>
            <a:endParaRPr/>
          </a:p>
          <a:p>
            <a:pPr indent="-298450" lvl="0" marL="457200" rtl="0" algn="l">
              <a:spcBef>
                <a:spcPts val="0"/>
              </a:spcBef>
              <a:spcAft>
                <a:spcPts val="0"/>
              </a:spcAft>
              <a:buClr>
                <a:srgbClr val="000000"/>
              </a:buClr>
              <a:buSzPts val="1100"/>
              <a:buChar char="●"/>
            </a:pPr>
            <a:r>
              <a:rPr lang="en"/>
              <a:t>Communication between users</a:t>
            </a:r>
            <a:endParaRPr/>
          </a:p>
          <a:p>
            <a:pPr indent="-298450" lvl="0" marL="457200" rtl="0" algn="l">
              <a:spcBef>
                <a:spcPts val="0"/>
              </a:spcBef>
              <a:spcAft>
                <a:spcPts val="0"/>
              </a:spcAft>
              <a:buClr>
                <a:srgbClr val="000000"/>
              </a:buClr>
              <a:buSzPts val="1100"/>
              <a:buChar char="●"/>
            </a:pPr>
            <a:r>
              <a:rPr lang="en"/>
              <a:t>Remote access &amp; scalability</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How Devices Communicate</a:t>
            </a:r>
            <a:endParaRPr b="1"/>
          </a:p>
        </p:txBody>
      </p:sp>
      <p:sp>
        <p:nvSpPr>
          <p:cNvPr id="79" name="Google Shape;79;p1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chemeClr val="dk1"/>
                </a:solidFill>
              </a:rPr>
              <a:t>Two main communication styles:</a:t>
            </a:r>
            <a:endParaRPr b="1" sz="1100">
              <a:solidFill>
                <a:schemeClr val="dk1"/>
              </a:solidFill>
            </a:endParaRPr>
          </a:p>
          <a:p>
            <a:pPr indent="0" lvl="0" marL="0" rtl="0" algn="l">
              <a:spcBef>
                <a:spcPts val="1200"/>
              </a:spcBef>
              <a:spcAft>
                <a:spcPts val="0"/>
              </a:spcAft>
              <a:buNone/>
            </a:pPr>
            <a:r>
              <a:rPr b="1" lang="en" sz="1100">
                <a:solidFill>
                  <a:schemeClr val="dk1"/>
                </a:solidFill>
              </a:rPr>
              <a:t>Client–Server</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Client requests data</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Server responds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Used by websites, apps, cloud services</a:t>
            </a:r>
            <a:endParaRPr sz="1100">
              <a:solidFill>
                <a:schemeClr val="dk1"/>
              </a:solidFill>
            </a:endParaRPr>
          </a:p>
          <a:p>
            <a:pPr indent="0" lvl="0" marL="0" rtl="0" algn="l">
              <a:spcBef>
                <a:spcPts val="1200"/>
              </a:spcBef>
              <a:spcAft>
                <a:spcPts val="0"/>
              </a:spcAft>
              <a:buNone/>
            </a:pPr>
            <a:r>
              <a:rPr b="1" lang="en" sz="1100">
                <a:solidFill>
                  <a:schemeClr val="dk1"/>
                </a:solidFill>
              </a:rPr>
              <a:t>Peer‑to‑Peer (P2P)</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Devices share directly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Used in file sharing &amp; messaging</a:t>
            </a:r>
            <a:endParaRPr sz="1100">
              <a:solidFill>
                <a:schemeClr val="dk1"/>
              </a:solidFill>
            </a:endParaRPr>
          </a:p>
          <a:p>
            <a:pPr indent="0" lvl="0" marL="0" rtl="0" algn="l">
              <a:spcBef>
                <a:spcPts val="1200"/>
              </a:spcBef>
              <a:spcAft>
                <a:spcPts val="1200"/>
              </a:spcAft>
              <a:buNone/>
            </a:pPr>
            <a:r>
              <a:t/>
            </a:r>
            <a:endParaRPr b="1"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Networking Fundamentals</a:t>
            </a:r>
            <a:endParaRPr b="1"/>
          </a:p>
        </p:txBody>
      </p:sp>
      <p:sp>
        <p:nvSpPr>
          <p:cNvPr id="85" name="Google Shape;85;p1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Clients &amp; servers</a:t>
            </a:r>
            <a:endParaRPr sz="1400"/>
          </a:p>
          <a:p>
            <a:pPr indent="-317500" lvl="0" marL="457200" rtl="0" algn="l">
              <a:spcBef>
                <a:spcPts val="0"/>
              </a:spcBef>
              <a:spcAft>
                <a:spcPts val="0"/>
              </a:spcAft>
              <a:buSzPts val="1400"/>
              <a:buChar char="●"/>
            </a:pPr>
            <a:r>
              <a:rPr lang="en" sz="1400"/>
              <a:t>Routers &amp; switches</a:t>
            </a:r>
            <a:endParaRPr sz="1400"/>
          </a:p>
          <a:p>
            <a:pPr indent="-317500" lvl="0" marL="457200" rtl="0" algn="l">
              <a:spcBef>
                <a:spcPts val="0"/>
              </a:spcBef>
              <a:spcAft>
                <a:spcPts val="0"/>
              </a:spcAft>
              <a:buSzPts val="1400"/>
              <a:buChar char="●"/>
            </a:pPr>
            <a:r>
              <a:rPr lang="en" sz="1400"/>
              <a:t>Links (wired/wireless)</a:t>
            </a:r>
            <a:endParaRPr sz="1400"/>
          </a:p>
          <a:p>
            <a:pPr indent="-317500" lvl="0" marL="457200" rtl="0" algn="l">
              <a:spcBef>
                <a:spcPts val="0"/>
              </a:spcBef>
              <a:spcAft>
                <a:spcPts val="0"/>
              </a:spcAft>
              <a:buSzPts val="1400"/>
              <a:buChar char="●"/>
            </a:pPr>
            <a:r>
              <a:rPr lang="en" sz="1400"/>
              <a:t>Packets (small chunks of data)</a:t>
            </a:r>
            <a:endParaRPr sz="1400"/>
          </a:p>
          <a:p>
            <a:pPr indent="-317500" lvl="0" marL="457200" rtl="0" algn="l">
              <a:spcBef>
                <a:spcPts val="0"/>
              </a:spcBef>
              <a:spcAft>
                <a:spcPts val="0"/>
              </a:spcAft>
              <a:buSzPts val="1400"/>
              <a:buChar char="●"/>
            </a:pPr>
            <a:r>
              <a:rPr lang="en" sz="1400"/>
              <a:t>Networks support home, business, and mobile use</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OSI Model Overview (Ian’s Diagram)</a:t>
            </a:r>
            <a:endParaRPr b="1"/>
          </a:p>
        </p:txBody>
      </p:sp>
      <p:sp>
        <p:nvSpPr>
          <p:cNvPr id="91" name="Google Shape;91;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chemeClr val="dk1"/>
                </a:solidFill>
              </a:rPr>
              <a:t>7 Layers:</a:t>
            </a:r>
            <a:endParaRPr b="1" sz="1100">
              <a:solidFill>
                <a:schemeClr val="dk1"/>
              </a:solidFill>
            </a:endParaRPr>
          </a:p>
          <a:p>
            <a:pPr indent="-298450" lvl="0" marL="457200" rtl="0" algn="l">
              <a:spcBef>
                <a:spcPts val="1200"/>
              </a:spcBef>
              <a:spcAft>
                <a:spcPts val="0"/>
              </a:spcAft>
              <a:buClr>
                <a:schemeClr val="dk1"/>
              </a:buClr>
              <a:buSzPts val="1100"/>
              <a:buAutoNum type="arabicPeriod"/>
            </a:pPr>
            <a:r>
              <a:rPr lang="en" sz="1100">
                <a:solidFill>
                  <a:schemeClr val="dk1"/>
                </a:solidFill>
              </a:rPr>
              <a:t>Physical</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Data Link</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Network</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Transport</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Session</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Presentation</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Application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OSI Model</a:t>
            </a:r>
            <a:endParaRPr b="1"/>
          </a:p>
        </p:txBody>
      </p:sp>
      <p:sp>
        <p:nvSpPr>
          <p:cNvPr id="97" name="Google Shape;97;p20"/>
          <p:cNvSpPr txBox="1"/>
          <p:nvPr>
            <p:ph idx="1" type="body"/>
          </p:nvPr>
        </p:nvSpPr>
        <p:spPr>
          <a:xfrm>
            <a:off x="311700" y="1389600"/>
            <a:ext cx="2808000" cy="3179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100">
                <a:solidFill>
                  <a:schemeClr val="dk1"/>
                </a:solidFill>
              </a:rPr>
              <a:t>Physical:</a:t>
            </a:r>
            <a:r>
              <a:rPr lang="en" sz="1100">
                <a:solidFill>
                  <a:schemeClr val="dk1"/>
                </a:solidFill>
              </a:rPr>
              <a:t> sends bits as signals</a:t>
            </a:r>
            <a:endParaRPr sz="1100">
              <a:solidFill>
                <a:schemeClr val="dk1"/>
              </a:solidFill>
            </a:endParaRPr>
          </a:p>
          <a:p>
            <a:pPr indent="0" lvl="0" marL="0" rtl="0" algn="l">
              <a:spcBef>
                <a:spcPts val="1200"/>
              </a:spcBef>
              <a:spcAft>
                <a:spcPts val="0"/>
              </a:spcAft>
              <a:buNone/>
            </a:pPr>
            <a:r>
              <a:rPr b="1" lang="en" sz="1100">
                <a:solidFill>
                  <a:schemeClr val="dk1"/>
                </a:solidFill>
              </a:rPr>
              <a:t>Data Link:</a:t>
            </a:r>
            <a:r>
              <a:rPr lang="en" sz="1100">
                <a:solidFill>
                  <a:schemeClr val="dk1"/>
                </a:solidFill>
              </a:rPr>
              <a:t> delivers frames on a local network</a:t>
            </a:r>
            <a:endParaRPr sz="1100">
              <a:solidFill>
                <a:schemeClr val="dk1"/>
              </a:solidFill>
            </a:endParaRPr>
          </a:p>
          <a:p>
            <a:pPr indent="0" lvl="0" marL="0" rtl="0" algn="l">
              <a:spcBef>
                <a:spcPts val="1200"/>
              </a:spcBef>
              <a:spcAft>
                <a:spcPts val="0"/>
              </a:spcAft>
              <a:buNone/>
            </a:pPr>
            <a:r>
              <a:rPr b="1" lang="en" sz="1100">
                <a:solidFill>
                  <a:schemeClr val="dk1"/>
                </a:solidFill>
              </a:rPr>
              <a:t>Network:</a:t>
            </a:r>
            <a:r>
              <a:rPr lang="en" sz="1100">
                <a:solidFill>
                  <a:schemeClr val="dk1"/>
                </a:solidFill>
              </a:rPr>
              <a:t> routes packets using IP addresses</a:t>
            </a:r>
            <a:endParaRPr sz="1100">
              <a:solidFill>
                <a:schemeClr val="dk1"/>
              </a:solidFill>
            </a:endParaRPr>
          </a:p>
          <a:p>
            <a:pPr indent="0" lvl="0" marL="0" rtl="0" algn="l">
              <a:spcBef>
                <a:spcPts val="1200"/>
              </a:spcBef>
              <a:spcAft>
                <a:spcPts val="0"/>
              </a:spcAft>
              <a:buNone/>
            </a:pPr>
            <a:r>
              <a:rPr b="1" lang="en" sz="1100">
                <a:solidFill>
                  <a:schemeClr val="dk1"/>
                </a:solidFill>
              </a:rPr>
              <a:t>Transport:</a:t>
            </a:r>
            <a:r>
              <a:rPr lang="en" sz="1100">
                <a:solidFill>
                  <a:schemeClr val="dk1"/>
                </a:solidFill>
              </a:rPr>
              <a:t> end‑to‑end communication (TCP/UDP)</a:t>
            </a:r>
            <a:endParaRPr sz="1100">
              <a:solidFill>
                <a:schemeClr val="dk1"/>
              </a:solidFill>
            </a:endParaRPr>
          </a:p>
          <a:p>
            <a:pPr indent="0" lvl="0" marL="0" rtl="0" algn="l">
              <a:spcBef>
                <a:spcPts val="1200"/>
              </a:spcBef>
              <a:spcAft>
                <a:spcPts val="0"/>
              </a:spcAft>
              <a:buNone/>
            </a:pPr>
            <a:r>
              <a:rPr b="1" lang="en" sz="1100">
                <a:solidFill>
                  <a:schemeClr val="dk1"/>
                </a:solidFill>
              </a:rPr>
              <a:t>Session:</a:t>
            </a:r>
            <a:r>
              <a:rPr lang="en" sz="1100">
                <a:solidFill>
                  <a:schemeClr val="dk1"/>
                </a:solidFill>
              </a:rPr>
              <a:t> manages connections</a:t>
            </a:r>
            <a:endParaRPr sz="1100">
              <a:solidFill>
                <a:schemeClr val="dk1"/>
              </a:solidFill>
            </a:endParaRPr>
          </a:p>
          <a:p>
            <a:pPr indent="0" lvl="0" marL="0" rtl="0" algn="l">
              <a:spcBef>
                <a:spcPts val="1200"/>
              </a:spcBef>
              <a:spcAft>
                <a:spcPts val="0"/>
              </a:spcAft>
              <a:buNone/>
            </a:pPr>
            <a:r>
              <a:rPr b="1" lang="en" sz="1100">
                <a:solidFill>
                  <a:schemeClr val="dk1"/>
                </a:solidFill>
              </a:rPr>
              <a:t>Presentation:</a:t>
            </a:r>
            <a:r>
              <a:rPr lang="en" sz="1100">
                <a:solidFill>
                  <a:schemeClr val="dk1"/>
                </a:solidFill>
              </a:rPr>
              <a:t> formatting &amp; encryption</a:t>
            </a:r>
            <a:endParaRPr sz="1100">
              <a:solidFill>
                <a:schemeClr val="dk1"/>
              </a:solidFill>
            </a:endParaRPr>
          </a:p>
          <a:p>
            <a:pPr indent="0" lvl="0" marL="0" rtl="0" algn="l">
              <a:spcBef>
                <a:spcPts val="1200"/>
              </a:spcBef>
              <a:spcAft>
                <a:spcPts val="1200"/>
              </a:spcAft>
              <a:buNone/>
            </a:pPr>
            <a:r>
              <a:rPr b="1" lang="en" sz="1100">
                <a:solidFill>
                  <a:schemeClr val="dk1"/>
                </a:solidFill>
              </a:rPr>
              <a:t>Application:</a:t>
            </a:r>
            <a:r>
              <a:rPr lang="en" sz="1100">
                <a:solidFill>
                  <a:schemeClr val="dk1"/>
                </a:solidFill>
              </a:rPr>
              <a:t> protocols apps use (HTTP, DNS)</a:t>
            </a:r>
            <a:endParaRPr sz="1100">
              <a:solidFill>
                <a:schemeClr val="dk1"/>
              </a:solidFill>
            </a:endParaRPr>
          </a:p>
        </p:txBody>
      </p:sp>
      <p:sp>
        <p:nvSpPr>
          <p:cNvPr id="98" name="Google Shape;98;p20"/>
          <p:cNvSpPr/>
          <p:nvPr/>
        </p:nvSpPr>
        <p:spPr>
          <a:xfrm>
            <a:off x="3850525" y="894100"/>
            <a:ext cx="1675200" cy="2946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7.   Application</a:t>
            </a:r>
            <a:endParaRPr/>
          </a:p>
        </p:txBody>
      </p:sp>
      <p:sp>
        <p:nvSpPr>
          <p:cNvPr id="99" name="Google Shape;99;p20"/>
          <p:cNvSpPr/>
          <p:nvPr/>
        </p:nvSpPr>
        <p:spPr>
          <a:xfrm>
            <a:off x="3850525" y="1430163"/>
            <a:ext cx="1675200" cy="2946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6.    Presentation</a:t>
            </a:r>
            <a:endParaRPr/>
          </a:p>
        </p:txBody>
      </p:sp>
      <p:sp>
        <p:nvSpPr>
          <p:cNvPr id="100" name="Google Shape;100;p20"/>
          <p:cNvSpPr/>
          <p:nvPr/>
        </p:nvSpPr>
        <p:spPr>
          <a:xfrm>
            <a:off x="3850525" y="4206900"/>
            <a:ext cx="1675200" cy="294600"/>
          </a:xfrm>
          <a:prstGeom prst="rect">
            <a:avLst/>
          </a:prstGeom>
          <a:solidFill>
            <a:srgbClr val="CC412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AutoNum type="arabicPeriod"/>
            </a:pPr>
            <a:r>
              <a:rPr lang="en"/>
              <a:t>Physical </a:t>
            </a:r>
            <a:endParaRPr/>
          </a:p>
        </p:txBody>
      </p:sp>
      <p:sp>
        <p:nvSpPr>
          <p:cNvPr id="101" name="Google Shape;101;p20"/>
          <p:cNvSpPr/>
          <p:nvPr/>
        </p:nvSpPr>
        <p:spPr>
          <a:xfrm>
            <a:off x="3850525" y="1966250"/>
            <a:ext cx="1675200" cy="2946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5.    Session</a:t>
            </a:r>
            <a:endParaRPr/>
          </a:p>
        </p:txBody>
      </p:sp>
      <p:sp>
        <p:nvSpPr>
          <p:cNvPr id="102" name="Google Shape;102;p20"/>
          <p:cNvSpPr/>
          <p:nvPr/>
        </p:nvSpPr>
        <p:spPr>
          <a:xfrm>
            <a:off x="3850525" y="2530975"/>
            <a:ext cx="1675200" cy="2946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4.    </a:t>
            </a:r>
            <a:r>
              <a:rPr lang="en"/>
              <a:t>Transport</a:t>
            </a:r>
            <a:endParaRPr/>
          </a:p>
        </p:txBody>
      </p:sp>
      <p:sp>
        <p:nvSpPr>
          <p:cNvPr id="103" name="Google Shape;103;p20"/>
          <p:cNvSpPr/>
          <p:nvPr/>
        </p:nvSpPr>
        <p:spPr>
          <a:xfrm>
            <a:off x="3850525" y="3064575"/>
            <a:ext cx="1675200" cy="2946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3.    Network</a:t>
            </a:r>
            <a:endParaRPr/>
          </a:p>
        </p:txBody>
      </p:sp>
      <p:sp>
        <p:nvSpPr>
          <p:cNvPr id="104" name="Google Shape;104;p20"/>
          <p:cNvSpPr/>
          <p:nvPr/>
        </p:nvSpPr>
        <p:spPr>
          <a:xfrm>
            <a:off x="3850525" y="3649300"/>
            <a:ext cx="1675200" cy="294600"/>
          </a:xfrm>
          <a:prstGeom prst="rect">
            <a:avLst/>
          </a:prstGeom>
          <a:solidFill>
            <a:srgbClr val="CC412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2.     Data link </a:t>
            </a:r>
            <a:endParaRPr/>
          </a:p>
        </p:txBody>
      </p:sp>
      <p:sp>
        <p:nvSpPr>
          <p:cNvPr id="105" name="Google Shape;105;p20"/>
          <p:cNvSpPr txBox="1"/>
          <p:nvPr/>
        </p:nvSpPr>
        <p:spPr>
          <a:xfrm>
            <a:off x="6416800" y="1222850"/>
            <a:ext cx="2196000" cy="74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100">
                <a:solidFill>
                  <a:schemeClr val="dk1"/>
                </a:solidFill>
              </a:rPr>
              <a:t>7, 6, and 5 make the Application layer in TCP/IP model</a:t>
            </a:r>
            <a:endParaRPr/>
          </a:p>
        </p:txBody>
      </p:sp>
      <p:sp>
        <p:nvSpPr>
          <p:cNvPr id="106" name="Google Shape;106;p20"/>
          <p:cNvSpPr txBox="1"/>
          <p:nvPr/>
        </p:nvSpPr>
        <p:spPr>
          <a:xfrm>
            <a:off x="6416800" y="2339250"/>
            <a:ext cx="26106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100">
                <a:solidFill>
                  <a:schemeClr val="dk1"/>
                </a:solidFill>
              </a:rPr>
              <a:t>4 is the Transport layer in TCP/IP Model </a:t>
            </a:r>
            <a:endParaRPr/>
          </a:p>
        </p:txBody>
      </p:sp>
      <p:sp>
        <p:nvSpPr>
          <p:cNvPr id="107" name="Google Shape;107;p20"/>
          <p:cNvSpPr txBox="1"/>
          <p:nvPr/>
        </p:nvSpPr>
        <p:spPr>
          <a:xfrm>
            <a:off x="6416800" y="3698375"/>
            <a:ext cx="28779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100">
                <a:solidFill>
                  <a:schemeClr val="dk1"/>
                </a:solidFill>
              </a:rPr>
              <a:t>2 and 1 make the link </a:t>
            </a:r>
            <a:r>
              <a:rPr b="1" lang="en" sz="1100">
                <a:solidFill>
                  <a:schemeClr val="dk1"/>
                </a:solidFill>
              </a:rPr>
              <a:t>layer in TCP/IP Model </a:t>
            </a:r>
            <a:endParaRPr/>
          </a:p>
        </p:txBody>
      </p:sp>
      <p:sp>
        <p:nvSpPr>
          <p:cNvPr id="108" name="Google Shape;108;p20"/>
          <p:cNvSpPr txBox="1"/>
          <p:nvPr/>
        </p:nvSpPr>
        <p:spPr>
          <a:xfrm>
            <a:off x="6416800" y="2887950"/>
            <a:ext cx="26106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100">
                <a:solidFill>
                  <a:schemeClr val="dk1"/>
                </a:solidFill>
              </a:rPr>
              <a:t>3 is now Internet </a:t>
            </a:r>
            <a:r>
              <a:rPr b="1" lang="en" sz="1100">
                <a:solidFill>
                  <a:schemeClr val="dk1"/>
                </a:solidFill>
              </a:rPr>
              <a:t>layer in TCP/IP Model </a:t>
            </a:r>
            <a:endParaRPr/>
          </a:p>
        </p:txBody>
      </p:sp>
      <p:sp>
        <p:nvSpPr>
          <p:cNvPr id="109" name="Google Shape;109;p20"/>
          <p:cNvSpPr/>
          <p:nvPr/>
        </p:nvSpPr>
        <p:spPr>
          <a:xfrm>
            <a:off x="4079550" y="1748313"/>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20"/>
          <p:cNvSpPr/>
          <p:nvPr/>
        </p:nvSpPr>
        <p:spPr>
          <a:xfrm>
            <a:off x="4079550" y="2298700"/>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p:nvPr/>
        </p:nvSpPr>
        <p:spPr>
          <a:xfrm>
            <a:off x="4079550" y="3413813"/>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0"/>
          <p:cNvSpPr/>
          <p:nvPr/>
        </p:nvSpPr>
        <p:spPr>
          <a:xfrm>
            <a:off x="4079550" y="2847863"/>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0"/>
          <p:cNvSpPr/>
          <p:nvPr/>
        </p:nvSpPr>
        <p:spPr>
          <a:xfrm>
            <a:off x="4079550" y="1212238"/>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20"/>
          <p:cNvSpPr/>
          <p:nvPr/>
        </p:nvSpPr>
        <p:spPr>
          <a:xfrm>
            <a:off x="4079550" y="3984975"/>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20"/>
          <p:cNvSpPr/>
          <p:nvPr/>
        </p:nvSpPr>
        <p:spPr>
          <a:xfrm rot="10800000">
            <a:off x="5212850" y="3978200"/>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20"/>
          <p:cNvSpPr/>
          <p:nvPr/>
        </p:nvSpPr>
        <p:spPr>
          <a:xfrm rot="10800000">
            <a:off x="5176500" y="2847875"/>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20"/>
          <p:cNvSpPr/>
          <p:nvPr/>
        </p:nvSpPr>
        <p:spPr>
          <a:xfrm rot="10800000">
            <a:off x="5176500" y="3407038"/>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20"/>
          <p:cNvSpPr/>
          <p:nvPr/>
        </p:nvSpPr>
        <p:spPr>
          <a:xfrm rot="10800000">
            <a:off x="5176500" y="2298713"/>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0"/>
          <p:cNvSpPr/>
          <p:nvPr/>
        </p:nvSpPr>
        <p:spPr>
          <a:xfrm rot="10800000">
            <a:off x="5176500" y="1748313"/>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20"/>
          <p:cNvSpPr/>
          <p:nvPr/>
        </p:nvSpPr>
        <p:spPr>
          <a:xfrm rot="10800000">
            <a:off x="5144275" y="1212238"/>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TCP/IP Model Overview (Ian’s Diagram)</a:t>
            </a:r>
            <a:endParaRPr b="1"/>
          </a:p>
        </p:txBody>
      </p:sp>
      <p:sp>
        <p:nvSpPr>
          <p:cNvPr id="126" name="Google Shape;126;p2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chemeClr val="dk1"/>
                </a:solidFill>
              </a:rPr>
              <a:t>4–5 Layers:</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Application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Transport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Internet</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Link / Network Access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Physical (optional)</a:t>
            </a:r>
            <a:endParaRPr sz="1100">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127" name="Google Shape;127;p21"/>
          <p:cNvSpPr/>
          <p:nvPr/>
        </p:nvSpPr>
        <p:spPr>
          <a:xfrm>
            <a:off x="4923300" y="1449400"/>
            <a:ext cx="1539300" cy="304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a:t>
            </a:r>
            <a:endParaRPr/>
          </a:p>
        </p:txBody>
      </p:sp>
      <p:sp>
        <p:nvSpPr>
          <p:cNvPr id="128" name="Google Shape;128;p21"/>
          <p:cNvSpPr/>
          <p:nvPr/>
        </p:nvSpPr>
        <p:spPr>
          <a:xfrm>
            <a:off x="4923300" y="2074238"/>
            <a:ext cx="1539300" cy="304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Transport</a:t>
            </a:r>
            <a:endParaRPr/>
          </a:p>
        </p:txBody>
      </p:sp>
      <p:sp>
        <p:nvSpPr>
          <p:cNvPr id="129" name="Google Shape;129;p21"/>
          <p:cNvSpPr/>
          <p:nvPr/>
        </p:nvSpPr>
        <p:spPr>
          <a:xfrm>
            <a:off x="4923300" y="2699063"/>
            <a:ext cx="1539300" cy="304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Internet</a:t>
            </a:r>
            <a:endParaRPr/>
          </a:p>
        </p:txBody>
      </p:sp>
      <p:sp>
        <p:nvSpPr>
          <p:cNvPr id="130" name="Google Shape;130;p21"/>
          <p:cNvSpPr/>
          <p:nvPr/>
        </p:nvSpPr>
        <p:spPr>
          <a:xfrm>
            <a:off x="4923300" y="3354400"/>
            <a:ext cx="1539300" cy="304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Link</a:t>
            </a:r>
            <a:endParaRPr/>
          </a:p>
        </p:txBody>
      </p:sp>
      <p:sp>
        <p:nvSpPr>
          <p:cNvPr id="131" name="Google Shape;131;p21"/>
          <p:cNvSpPr/>
          <p:nvPr/>
        </p:nvSpPr>
        <p:spPr>
          <a:xfrm>
            <a:off x="5113800" y="1817025"/>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21"/>
          <p:cNvSpPr/>
          <p:nvPr/>
        </p:nvSpPr>
        <p:spPr>
          <a:xfrm>
            <a:off x="5113800" y="2441863"/>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1"/>
          <p:cNvSpPr/>
          <p:nvPr/>
        </p:nvSpPr>
        <p:spPr>
          <a:xfrm>
            <a:off x="5113800" y="3081938"/>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1"/>
          <p:cNvSpPr/>
          <p:nvPr/>
        </p:nvSpPr>
        <p:spPr>
          <a:xfrm rot="10800000">
            <a:off x="6119625" y="3081938"/>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1"/>
          <p:cNvSpPr/>
          <p:nvPr/>
        </p:nvSpPr>
        <p:spPr>
          <a:xfrm rot="10800000">
            <a:off x="6119625" y="2457100"/>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1"/>
          <p:cNvSpPr/>
          <p:nvPr/>
        </p:nvSpPr>
        <p:spPr>
          <a:xfrm rot="10800000">
            <a:off x="6119625" y="1817025"/>
            <a:ext cx="137100" cy="194400"/>
          </a:xfrm>
          <a:prstGeom prst="down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OSI → TCP/IP Mapping</a:t>
            </a:r>
            <a:endParaRPr b="1"/>
          </a:p>
        </p:txBody>
      </p:sp>
      <p:sp>
        <p:nvSpPr>
          <p:cNvPr id="142" name="Google Shape;142;p22"/>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Char char="●"/>
            </a:pPr>
            <a:r>
              <a:rPr lang="en"/>
              <a:t>OSI Layers 5–7 → TCP/IP Application</a:t>
            </a:r>
            <a:endParaRPr/>
          </a:p>
          <a:p>
            <a:pPr indent="-298450" lvl="0" marL="457200" rtl="0" algn="l">
              <a:spcBef>
                <a:spcPts val="0"/>
              </a:spcBef>
              <a:spcAft>
                <a:spcPts val="0"/>
              </a:spcAft>
              <a:buClr>
                <a:srgbClr val="000000"/>
              </a:buClr>
              <a:buSzPts val="1100"/>
              <a:buChar char="●"/>
            </a:pPr>
            <a:r>
              <a:rPr lang="en"/>
              <a:t>OSI Layer 4 → TCP/IP Transport</a:t>
            </a:r>
            <a:endParaRPr/>
          </a:p>
          <a:p>
            <a:pPr indent="-298450" lvl="0" marL="457200" rtl="0" algn="l">
              <a:spcBef>
                <a:spcPts val="0"/>
              </a:spcBef>
              <a:spcAft>
                <a:spcPts val="0"/>
              </a:spcAft>
              <a:buClr>
                <a:srgbClr val="000000"/>
              </a:buClr>
              <a:buSzPts val="1100"/>
              <a:buChar char="●"/>
            </a:pPr>
            <a:r>
              <a:rPr lang="en"/>
              <a:t>OSI Layer 3 → TCP/IP Internet</a:t>
            </a:r>
            <a:endParaRPr/>
          </a:p>
          <a:p>
            <a:pPr indent="-298450" lvl="0" marL="457200" rtl="0" algn="l">
              <a:spcBef>
                <a:spcPts val="0"/>
              </a:spcBef>
              <a:spcAft>
                <a:spcPts val="0"/>
              </a:spcAft>
              <a:buClr>
                <a:srgbClr val="000000"/>
              </a:buClr>
              <a:buSzPts val="1100"/>
              <a:buChar char="●"/>
            </a:pPr>
            <a:r>
              <a:rPr lang="en"/>
              <a:t>OSI Layers 1–2 → TCP/IP Link/Physical</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Why Networks Matter</a:t>
            </a:r>
            <a:endParaRPr b="1"/>
          </a:p>
        </p:txBody>
      </p:sp>
      <p:sp>
        <p:nvSpPr>
          <p:cNvPr id="148" name="Google Shape;148;p2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Networks make everyday tasks possible:</a:t>
            </a:r>
            <a:endParaRPr/>
          </a:p>
          <a:p>
            <a:pPr indent="-298450" lvl="0" marL="457200" rtl="0" algn="l">
              <a:spcBef>
                <a:spcPts val="1200"/>
              </a:spcBef>
              <a:spcAft>
                <a:spcPts val="0"/>
              </a:spcAft>
              <a:buClr>
                <a:srgbClr val="000000"/>
              </a:buClr>
              <a:buSzPts val="1100"/>
              <a:buChar char="●"/>
            </a:pPr>
            <a:r>
              <a:rPr lang="en"/>
              <a:t>Video calls</a:t>
            </a:r>
            <a:endParaRPr/>
          </a:p>
          <a:p>
            <a:pPr indent="-298450" lvl="0" marL="457200" rtl="0" algn="l">
              <a:spcBef>
                <a:spcPts val="0"/>
              </a:spcBef>
              <a:spcAft>
                <a:spcPts val="0"/>
              </a:spcAft>
              <a:buClr>
                <a:srgbClr val="000000"/>
              </a:buClr>
              <a:buSzPts val="1100"/>
              <a:buChar char="●"/>
            </a:pPr>
            <a:r>
              <a:rPr lang="en"/>
              <a:t>Streaming movies &amp; music</a:t>
            </a:r>
            <a:endParaRPr/>
          </a:p>
          <a:p>
            <a:pPr indent="-298450" lvl="0" marL="457200" rtl="0" algn="l">
              <a:spcBef>
                <a:spcPts val="0"/>
              </a:spcBef>
              <a:spcAft>
                <a:spcPts val="0"/>
              </a:spcAft>
              <a:buClr>
                <a:srgbClr val="000000"/>
              </a:buClr>
              <a:buSzPts val="1100"/>
              <a:buChar char="●"/>
            </a:pPr>
            <a:r>
              <a:rPr lang="en"/>
              <a:t>Online gaming</a:t>
            </a:r>
            <a:endParaRPr/>
          </a:p>
          <a:p>
            <a:pPr indent="-298450" lvl="0" marL="457200" rtl="0" algn="l">
              <a:spcBef>
                <a:spcPts val="0"/>
              </a:spcBef>
              <a:spcAft>
                <a:spcPts val="0"/>
              </a:spcAft>
              <a:buClr>
                <a:srgbClr val="000000"/>
              </a:buClr>
              <a:buSzPts val="1100"/>
              <a:buChar char="●"/>
            </a:pPr>
            <a:r>
              <a:rPr lang="en"/>
              <a:t>Cloud storage</a:t>
            </a:r>
            <a:endParaRPr/>
          </a:p>
          <a:p>
            <a:pPr indent="-298450" lvl="0" marL="457200" rtl="0" algn="l">
              <a:spcBef>
                <a:spcPts val="0"/>
              </a:spcBef>
              <a:spcAft>
                <a:spcPts val="0"/>
              </a:spcAft>
              <a:buClr>
                <a:srgbClr val="000000"/>
              </a:buClr>
              <a:buSzPts val="1100"/>
              <a:buChar char="●"/>
            </a:pPr>
            <a:r>
              <a:rPr lang="en"/>
              <a:t>Online banking &amp; shopping</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How Networks Enable These</a:t>
            </a:r>
            <a:endParaRPr b="1"/>
          </a:p>
        </p:txBody>
      </p:sp>
      <p:sp>
        <p:nvSpPr>
          <p:cNvPr id="154" name="Google Shape;154;p24"/>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b="1" lang="en" sz="1100">
                <a:solidFill>
                  <a:schemeClr val="dk1"/>
                </a:solidFill>
              </a:rPr>
              <a:t>Video calls:</a:t>
            </a:r>
            <a:r>
              <a:rPr lang="en" sz="1100">
                <a:solidFill>
                  <a:schemeClr val="dk1"/>
                </a:solidFill>
              </a:rPr>
              <a:t> send audio/video packets in real time</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Streaming:</a:t>
            </a:r>
            <a:r>
              <a:rPr lang="en" sz="1100">
                <a:solidFill>
                  <a:schemeClr val="dk1"/>
                </a:solidFill>
              </a:rPr>
              <a:t> media is delivered continuously from servers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Gaming:</a:t>
            </a:r>
            <a:r>
              <a:rPr lang="en" sz="1100">
                <a:solidFill>
                  <a:schemeClr val="dk1"/>
                </a:solidFill>
              </a:rPr>
              <a:t> networks sync player actions instantly</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Cloud storage:</a:t>
            </a:r>
            <a:r>
              <a:rPr lang="en" sz="1100">
                <a:solidFill>
                  <a:schemeClr val="dk1"/>
                </a:solidFill>
              </a:rPr>
              <a:t> files live on remote servers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Banking/shopping:</a:t>
            </a:r>
            <a:r>
              <a:rPr lang="en" sz="1100">
                <a:solidFill>
                  <a:schemeClr val="dk1"/>
                </a:solidFill>
              </a:rPr>
              <a:t> secure protocols protect transactions</a:t>
            </a:r>
            <a:endParaRPr sz="1100">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b="1" lang="en"/>
              <a:t>Glossary (Key Terms)</a:t>
            </a:r>
            <a:endParaRPr b="1"/>
          </a:p>
        </p:txBody>
      </p:sp>
      <p:sp>
        <p:nvSpPr>
          <p:cNvPr id="160" name="Google Shape;160;p2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1100">
                <a:solidFill>
                  <a:schemeClr val="dk1"/>
                </a:solidFill>
              </a:rPr>
              <a:t>Network:</a:t>
            </a:r>
            <a:r>
              <a:rPr lang="en" sz="1100">
                <a:solidFill>
                  <a:schemeClr val="dk1"/>
                </a:solidFill>
              </a:rPr>
              <a:t> Connected devices sharing information</a:t>
            </a:r>
            <a:endParaRPr sz="1100">
              <a:solidFill>
                <a:schemeClr val="dk1"/>
              </a:solidFill>
            </a:endParaRPr>
          </a:p>
          <a:p>
            <a:pPr indent="0" lvl="0" marL="0" rtl="0" algn="l">
              <a:spcBef>
                <a:spcPts val="1200"/>
              </a:spcBef>
              <a:spcAft>
                <a:spcPts val="0"/>
              </a:spcAft>
              <a:buNone/>
            </a:pPr>
            <a:r>
              <a:rPr b="1" lang="en" sz="1100">
                <a:solidFill>
                  <a:schemeClr val="dk1"/>
                </a:solidFill>
              </a:rPr>
              <a:t>Internet:</a:t>
            </a:r>
            <a:r>
              <a:rPr lang="en" sz="1100">
                <a:solidFill>
                  <a:schemeClr val="dk1"/>
                </a:solidFill>
              </a:rPr>
              <a:t> Global network of networks</a:t>
            </a:r>
            <a:endParaRPr sz="1100">
              <a:solidFill>
                <a:schemeClr val="dk1"/>
              </a:solidFill>
            </a:endParaRPr>
          </a:p>
          <a:p>
            <a:pPr indent="0" lvl="0" marL="0" rtl="0" algn="l">
              <a:spcBef>
                <a:spcPts val="1200"/>
              </a:spcBef>
              <a:spcAft>
                <a:spcPts val="0"/>
              </a:spcAft>
              <a:buNone/>
            </a:pPr>
            <a:r>
              <a:rPr b="1" lang="en" sz="1100">
                <a:solidFill>
                  <a:schemeClr val="dk1"/>
                </a:solidFill>
              </a:rPr>
              <a:t>Protocol:</a:t>
            </a:r>
            <a:r>
              <a:rPr lang="en" sz="1100">
                <a:solidFill>
                  <a:schemeClr val="dk1"/>
                </a:solidFill>
              </a:rPr>
              <a:t> Rules for communication</a:t>
            </a:r>
            <a:endParaRPr sz="1100">
              <a:solidFill>
                <a:schemeClr val="dk1"/>
              </a:solidFill>
            </a:endParaRPr>
          </a:p>
          <a:p>
            <a:pPr indent="0" lvl="0" marL="0" rtl="0" algn="l">
              <a:spcBef>
                <a:spcPts val="1200"/>
              </a:spcBef>
              <a:spcAft>
                <a:spcPts val="0"/>
              </a:spcAft>
              <a:buNone/>
            </a:pPr>
            <a:r>
              <a:rPr b="1" lang="en" sz="1100">
                <a:solidFill>
                  <a:schemeClr val="dk1"/>
                </a:solidFill>
              </a:rPr>
              <a:t>Packet:</a:t>
            </a:r>
            <a:r>
              <a:rPr lang="en" sz="1100">
                <a:solidFill>
                  <a:schemeClr val="dk1"/>
                </a:solidFill>
              </a:rPr>
              <a:t> Small piece of data</a:t>
            </a:r>
            <a:endParaRPr sz="1100">
              <a:solidFill>
                <a:schemeClr val="dk1"/>
              </a:solidFill>
            </a:endParaRPr>
          </a:p>
          <a:p>
            <a:pPr indent="0" lvl="0" marL="0" rtl="0" algn="l">
              <a:spcBef>
                <a:spcPts val="1200"/>
              </a:spcBef>
              <a:spcAft>
                <a:spcPts val="0"/>
              </a:spcAft>
              <a:buNone/>
            </a:pPr>
            <a:r>
              <a:rPr b="1" lang="en" sz="1100">
                <a:solidFill>
                  <a:schemeClr val="dk1"/>
                </a:solidFill>
              </a:rPr>
              <a:t>Router:</a:t>
            </a:r>
            <a:r>
              <a:rPr lang="en" sz="1100">
                <a:solidFill>
                  <a:schemeClr val="dk1"/>
                </a:solidFill>
              </a:rPr>
              <a:t> Forwards packets between networks</a:t>
            </a:r>
            <a:endParaRPr sz="1100">
              <a:solidFill>
                <a:schemeClr val="dk1"/>
              </a:solidFill>
            </a:endParaRPr>
          </a:p>
          <a:p>
            <a:pPr indent="0" lvl="0" marL="0" rtl="0" algn="l">
              <a:spcBef>
                <a:spcPts val="1200"/>
              </a:spcBef>
              <a:spcAft>
                <a:spcPts val="0"/>
              </a:spcAft>
              <a:buNone/>
            </a:pPr>
            <a:r>
              <a:rPr b="1" lang="en" sz="1100">
                <a:solidFill>
                  <a:schemeClr val="dk1"/>
                </a:solidFill>
              </a:rPr>
              <a:t>Switch:</a:t>
            </a:r>
            <a:r>
              <a:rPr lang="en" sz="1100">
                <a:solidFill>
                  <a:schemeClr val="dk1"/>
                </a:solidFill>
              </a:rPr>
              <a:t> Connects devices in a LAN</a:t>
            </a:r>
            <a:endParaRPr sz="1100">
              <a:solidFill>
                <a:schemeClr val="dk1"/>
              </a:solidFill>
            </a:endParaRPr>
          </a:p>
          <a:p>
            <a:pPr indent="0" lvl="0" marL="0" rtl="0" algn="l">
              <a:spcBef>
                <a:spcPts val="1200"/>
              </a:spcBef>
              <a:spcAft>
                <a:spcPts val="0"/>
              </a:spcAft>
              <a:buNone/>
            </a:pPr>
            <a:r>
              <a:rPr b="1" lang="en" sz="1100">
                <a:solidFill>
                  <a:schemeClr val="dk1"/>
                </a:solidFill>
              </a:rPr>
              <a:t>Server:</a:t>
            </a:r>
            <a:r>
              <a:rPr lang="en" sz="1100">
                <a:solidFill>
                  <a:schemeClr val="dk1"/>
                </a:solidFill>
              </a:rPr>
              <a:t> Provides data/services</a:t>
            </a:r>
            <a:endParaRPr sz="1100">
              <a:solidFill>
                <a:schemeClr val="dk1"/>
              </a:solidFill>
            </a:endParaRPr>
          </a:p>
          <a:p>
            <a:pPr indent="0" lvl="0" marL="0" rtl="0" algn="l">
              <a:spcBef>
                <a:spcPts val="1200"/>
              </a:spcBef>
              <a:spcAft>
                <a:spcPts val="0"/>
              </a:spcAft>
              <a:buNone/>
            </a:pPr>
            <a:r>
              <a:rPr b="1" lang="en" sz="1100">
                <a:solidFill>
                  <a:schemeClr val="dk1"/>
                </a:solidFill>
              </a:rPr>
              <a:t>Client:</a:t>
            </a:r>
            <a:r>
              <a:rPr lang="en" sz="1100">
                <a:solidFill>
                  <a:schemeClr val="dk1"/>
                </a:solidFill>
              </a:rPr>
              <a:t> Requests data/services</a:t>
            </a:r>
            <a:endParaRPr sz="1100">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